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IBM Plex Sans"/>
      <p:regular r:id="rId16"/>
      <p:bold r:id="rId17"/>
      <p:italic r:id="rId18"/>
      <p:boldItalic r:id="rId19"/>
    </p:embeddedFont>
    <p:embeddedFont>
      <p:font typeface="Sora SemiBold"/>
      <p:regular r:id="rId20"/>
      <p:bold r:id="rId21"/>
    </p:embeddedFont>
    <p:embeddedFont>
      <p:font typeface="IBM Plex Sans Medium"/>
      <p:regular r:id="rId22"/>
      <p:bold r:id="rId23"/>
      <p:italic r:id="rId24"/>
      <p:boldItalic r:id="rId25"/>
    </p:embeddedFont>
    <p:embeddedFont>
      <p:font typeface="Sora Light"/>
      <p:regular r:id="rId26"/>
      <p:bold r:id="rId27"/>
    </p:embeddedFont>
    <p:embeddedFont>
      <p:font typeface="Sora ExtraLight"/>
      <p:regular r:id="rId28"/>
      <p:bold r:id="rId29"/>
    </p:embeddedFont>
    <p:embeddedFont>
      <p:font typeface="Sora"/>
      <p:regular r:id="rId30"/>
      <p:bold r:id="rId31"/>
    </p:embeddedFont>
    <p:embeddedFont>
      <p:font typeface="Sora Medium"/>
      <p:regular r:id="rId32"/>
      <p:bold r:id="rId33"/>
    </p:embeddedFont>
    <p:embeddedFont>
      <p:font typeface="IBM Plex Sans SemiBold"/>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ra-bold.fntdata"/><Relationship Id="rId30" Type="http://schemas.openxmlformats.org/officeDocument/2006/relationships/font" Target="fonts/Sora-regular.fntdata"/><Relationship Id="rId33" Type="http://schemas.openxmlformats.org/officeDocument/2006/relationships/font" Target="fonts/SoraMedium-bold.fntdata"/><Relationship Id="rId32" Type="http://schemas.openxmlformats.org/officeDocument/2006/relationships/font" Target="fonts/SoraMedium-regular.fntdata"/><Relationship Id="rId35" Type="http://schemas.openxmlformats.org/officeDocument/2006/relationships/font" Target="fonts/IBMPlexSansSemiBold-bold.fntdata"/><Relationship Id="rId34" Type="http://schemas.openxmlformats.org/officeDocument/2006/relationships/font" Target="fonts/IBMPlexSansSemiBold-regular.fntdata"/><Relationship Id="rId37" Type="http://schemas.openxmlformats.org/officeDocument/2006/relationships/font" Target="fonts/IBMPlexSansSemiBold-boldItalic.fntdata"/><Relationship Id="rId36" Type="http://schemas.openxmlformats.org/officeDocument/2006/relationships/font" Target="fonts/IBMPlexSansSemiBold-italic.fntdata"/><Relationship Id="rId20" Type="http://schemas.openxmlformats.org/officeDocument/2006/relationships/font" Target="fonts/SoraSemiBold-regular.fntdata"/><Relationship Id="rId22" Type="http://schemas.openxmlformats.org/officeDocument/2006/relationships/font" Target="fonts/IBMPlexSansMedium-regular.fntdata"/><Relationship Id="rId21" Type="http://schemas.openxmlformats.org/officeDocument/2006/relationships/font" Target="fonts/SoraSemiBold-bold.fntdata"/><Relationship Id="rId24" Type="http://schemas.openxmlformats.org/officeDocument/2006/relationships/font" Target="fonts/IBMPlexSansMedium-italic.fntdata"/><Relationship Id="rId23" Type="http://schemas.openxmlformats.org/officeDocument/2006/relationships/font" Target="fonts/IBMPlexSansMedium-bold.fntdata"/><Relationship Id="rId26" Type="http://schemas.openxmlformats.org/officeDocument/2006/relationships/font" Target="fonts/SoraLight-regular.fntdata"/><Relationship Id="rId25" Type="http://schemas.openxmlformats.org/officeDocument/2006/relationships/font" Target="fonts/IBMPlexSansMedium-boldItalic.fntdata"/><Relationship Id="rId28" Type="http://schemas.openxmlformats.org/officeDocument/2006/relationships/font" Target="fonts/SoraExtraLight-regular.fntdata"/><Relationship Id="rId27" Type="http://schemas.openxmlformats.org/officeDocument/2006/relationships/font" Target="fonts/SoraLight-bold.fntdata"/><Relationship Id="rId29" Type="http://schemas.openxmlformats.org/officeDocument/2006/relationships/font" Target="fonts/SoraExtraLight-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BMPlexSans-bold.fntdata"/><Relationship Id="rId16" Type="http://schemas.openxmlformats.org/officeDocument/2006/relationships/font" Target="fonts/IBMPlexSans-regular.fntdata"/><Relationship Id="rId19" Type="http://schemas.openxmlformats.org/officeDocument/2006/relationships/font" Target="fonts/IBMPlexSans-boldItalic.fntdata"/><Relationship Id="rId18" Type="http://schemas.openxmlformats.org/officeDocument/2006/relationships/font" Target="fonts/IBMPlexSa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c214b86fb4_0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c214b86fb4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c214b86fb4_0_1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3c214b86fb4_0_1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c219ec272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3c219ec272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3c219ec272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3c219ec272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c219ec272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3c219ec272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c452c1855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3c452c1855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c452c1855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c452c1855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c452c1855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c452c1855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c452c1855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c452c1855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c219ec272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c219ec272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idx="2" type="subTitle"/>
          </p:nvPr>
        </p:nvSpPr>
        <p:spPr>
          <a:xfrm>
            <a:off x="138475" y="228600"/>
            <a:ext cx="2164500" cy="905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CycleSIGHT</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Aiyana, Gloria, Farruh</a:t>
            </a:r>
            <a:endParaRPr>
              <a:latin typeface="Sora"/>
              <a:ea typeface="Sora"/>
              <a:cs typeface="Sora"/>
              <a:sym typeface="Sora"/>
            </a:endParaRPr>
          </a:p>
        </p:txBody>
      </p:sp>
      <p:sp>
        <p:nvSpPr>
          <p:cNvPr id="889" name="Google Shape;889;p51"/>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Weekly Discovery Report 3</a:t>
            </a:r>
            <a:endParaRPr>
              <a:solidFill>
                <a:schemeClr val="dk2"/>
              </a:solidFill>
            </a:endParaRPr>
          </a:p>
        </p:txBody>
      </p:sp>
      <p:sp>
        <p:nvSpPr>
          <p:cNvPr id="890" name="Google Shape;890;p51"/>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Because</a:t>
            </a:r>
            <a:r>
              <a:rPr lang="en">
                <a:latin typeface="Sora"/>
                <a:ea typeface="Sora"/>
                <a:cs typeface="Sora"/>
                <a:sym typeface="Sora"/>
              </a:rPr>
              <a:t> pain isn’t one-size-fits-all.</a:t>
            </a:r>
            <a:endParaRPr>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52"/>
          <p:cNvSpPr txBox="1"/>
          <p:nvPr>
            <p:ph idx="1" type="body"/>
          </p:nvPr>
        </p:nvSpPr>
        <p:spPr>
          <a:xfrm>
            <a:off x="3590100" y="93150"/>
            <a:ext cx="4981200" cy="200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IBM Plex Sans"/>
                <a:ea typeface="IBM Plex Sans"/>
                <a:cs typeface="IBM Plex Sans"/>
                <a:sym typeface="IBM Plex Sans"/>
              </a:rPr>
              <a:t>The Problem</a:t>
            </a:r>
            <a:endParaRPr b="1" sz="1600">
              <a:latin typeface="IBM Plex Sans"/>
              <a:ea typeface="IBM Plex Sans"/>
              <a:cs typeface="IBM Plex Sans"/>
              <a:sym typeface="IBM Plex Sans"/>
            </a:endParaRPr>
          </a:p>
          <a:p>
            <a:pPr indent="0" lvl="0" marL="0" rtl="0" algn="l">
              <a:lnSpc>
                <a:spcPct val="100000"/>
              </a:lnSpc>
              <a:spcBef>
                <a:spcPts val="900"/>
              </a:spcBef>
              <a:spcAft>
                <a:spcPts val="0"/>
              </a:spcAft>
              <a:buNone/>
            </a:pPr>
            <a:r>
              <a:rPr b="1" lang="en" sz="1200">
                <a:solidFill>
                  <a:srgbClr val="000000"/>
                </a:solidFill>
                <a:latin typeface="Arial"/>
                <a:ea typeface="Arial"/>
                <a:cs typeface="Arial"/>
                <a:sym typeface="Arial"/>
              </a:rPr>
              <a:t>Millions of deaths annually are linked to liver and kidney disease, risks exacerbated by the repeated use of common NSAIDs. For women managing chronic menstrual pain or undiagnosed endometriosis, this reliance is often a "trial-and-error" necessity. However, without genetic screening, these patients remain unaware of variants that impair drug metabolism and increase their susceptibility to organ damage, turning routine pain management into a silent health crisis </a:t>
            </a:r>
            <a:endParaRPr>
              <a:latin typeface="Sora Light"/>
              <a:ea typeface="Sora Light"/>
              <a:cs typeface="Sora Light"/>
              <a:sym typeface="Sora Light"/>
            </a:endParaRPr>
          </a:p>
        </p:txBody>
      </p:sp>
      <p:sp>
        <p:nvSpPr>
          <p:cNvPr id="896" name="Google Shape;896;p5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CycleSIGHT</a:t>
            </a:r>
            <a:endParaRPr/>
          </a:p>
        </p:txBody>
      </p:sp>
      <p:sp>
        <p:nvSpPr>
          <p:cNvPr id="897" name="Google Shape;897;p52"/>
          <p:cNvSpPr txBox="1"/>
          <p:nvPr>
            <p:ph idx="3" type="title"/>
          </p:nvPr>
        </p:nvSpPr>
        <p:spPr>
          <a:xfrm>
            <a:off x="115025" y="502775"/>
            <a:ext cx="3905400" cy="12930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a:t>What is CycleSIGHT?</a:t>
            </a:r>
            <a:endParaRPr/>
          </a:p>
        </p:txBody>
      </p:sp>
      <p:sp>
        <p:nvSpPr>
          <p:cNvPr id="898" name="Google Shape;898;p52"/>
          <p:cNvSpPr txBox="1"/>
          <p:nvPr/>
        </p:nvSpPr>
        <p:spPr>
          <a:xfrm>
            <a:off x="3211800" y="2236750"/>
            <a:ext cx="5737800" cy="210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lt1"/>
                </a:solidFill>
                <a:latin typeface="IBM Plex Sans"/>
                <a:ea typeface="IBM Plex Sans"/>
                <a:cs typeface="IBM Plex Sans"/>
                <a:sym typeface="IBM Plex Sans"/>
              </a:rPr>
              <a:t>How we want to solve this problem?</a:t>
            </a:r>
            <a:endParaRPr b="1" sz="1500">
              <a:solidFill>
                <a:schemeClr val="lt1"/>
              </a:solidFill>
              <a:latin typeface="IBM Plex Sans"/>
              <a:ea typeface="IBM Plex Sans"/>
              <a:cs typeface="IBM Plex Sans"/>
              <a:sym typeface="IBM Plex Sans"/>
            </a:endParaRPr>
          </a:p>
          <a:p>
            <a:pPr indent="0" lvl="0" marL="0" rtl="0" algn="l">
              <a:spcBef>
                <a:spcPts val="0"/>
              </a:spcBef>
              <a:spcAft>
                <a:spcPts val="0"/>
              </a:spcAft>
              <a:buNone/>
            </a:pPr>
            <a:r>
              <a:t/>
            </a:r>
            <a:endParaRPr b="1" sz="1500">
              <a:solidFill>
                <a:schemeClr val="lt1"/>
              </a:solidFill>
              <a:latin typeface="IBM Plex Sans"/>
              <a:ea typeface="IBM Plex Sans"/>
              <a:cs typeface="IBM Plex Sans"/>
              <a:sym typeface="IBM Plex Sans"/>
            </a:endParaRPr>
          </a:p>
          <a:p>
            <a:pPr indent="0" lvl="0" marL="0" rtl="0" algn="l">
              <a:lnSpc>
                <a:spcPct val="115000"/>
              </a:lnSpc>
              <a:spcBef>
                <a:spcPts val="0"/>
              </a:spcBef>
              <a:spcAft>
                <a:spcPts val="0"/>
              </a:spcAft>
              <a:buNone/>
            </a:pPr>
            <a:r>
              <a:rPr b="1" lang="en" sz="1200">
                <a:latin typeface="Times New Roman"/>
                <a:ea typeface="Times New Roman"/>
                <a:cs typeface="Times New Roman"/>
                <a:sym typeface="Times New Roman"/>
              </a:rPr>
              <a:t>CycleSIGHT offers a laboratory-developed test (genetic and symptom-based) that helps clinicians personalize menstrual pain treatment and identify hidden risks. The test looks for variants related to NSAID drug metabolism (SNPs </a:t>
            </a:r>
            <a:r>
              <a:rPr b="1" lang="en" sz="1200">
                <a:solidFill>
                  <a:srgbClr val="1F1F1F"/>
                </a:solidFill>
                <a:latin typeface="Times New Roman"/>
                <a:ea typeface="Times New Roman"/>
                <a:cs typeface="Times New Roman"/>
                <a:sym typeface="Times New Roman"/>
              </a:rPr>
              <a:t>rs1799853 and rs1057910 in the </a:t>
            </a:r>
            <a:r>
              <a:rPr b="1" i="1" lang="en" sz="1200">
                <a:solidFill>
                  <a:srgbClr val="1F1F1F"/>
                </a:solidFill>
                <a:latin typeface="Times New Roman"/>
                <a:ea typeface="Times New Roman"/>
                <a:cs typeface="Times New Roman"/>
                <a:sym typeface="Times New Roman"/>
              </a:rPr>
              <a:t>CYP2C9 </a:t>
            </a:r>
            <a:r>
              <a:rPr b="1" lang="en" sz="1200">
                <a:solidFill>
                  <a:srgbClr val="1F1F1F"/>
                </a:solidFill>
                <a:latin typeface="Times New Roman"/>
                <a:ea typeface="Times New Roman"/>
                <a:cs typeface="Times New Roman"/>
                <a:sym typeface="Times New Roman"/>
              </a:rPr>
              <a:t>gene on chromosome 10</a:t>
            </a:r>
            <a:r>
              <a:rPr b="1" lang="en" sz="1200">
                <a:latin typeface="Times New Roman"/>
                <a:ea typeface="Times New Roman"/>
                <a:cs typeface="Times New Roman"/>
                <a:sym typeface="Times New Roman"/>
              </a:rPr>
              <a:t> ), pain sensitivity (SNPs </a:t>
            </a:r>
            <a:r>
              <a:rPr b="1" lang="en" sz="1200">
                <a:solidFill>
                  <a:srgbClr val="1F1F1F"/>
                </a:solidFill>
                <a:latin typeface="Times New Roman"/>
                <a:ea typeface="Times New Roman"/>
                <a:cs typeface="Times New Roman"/>
                <a:sym typeface="Times New Roman"/>
              </a:rPr>
              <a:t>rs4680 in the COMT gene on chromosome 22 and rs20417 in the PTGS2 (COX-2) gene on chromosome 1),</a:t>
            </a:r>
            <a:r>
              <a:rPr b="1" lang="en" sz="1200">
                <a:latin typeface="Times New Roman"/>
                <a:ea typeface="Times New Roman"/>
                <a:cs typeface="Times New Roman"/>
                <a:sym typeface="Times New Roman"/>
              </a:rPr>
              <a:t> and endometriosis risk (SNPs </a:t>
            </a:r>
            <a:r>
              <a:rPr b="1" lang="en" sz="1200">
                <a:solidFill>
                  <a:srgbClr val="1F1F1F"/>
                </a:solidFill>
                <a:latin typeface="Times New Roman"/>
                <a:ea typeface="Times New Roman"/>
                <a:cs typeface="Times New Roman"/>
                <a:sym typeface="Times New Roman"/>
              </a:rPr>
              <a:t>rs17561 in IL1A gene on chromosome 2</a:t>
            </a:r>
            <a:r>
              <a:rPr b="1" lang="en" sz="1200">
                <a:latin typeface="Times New Roman"/>
                <a:ea typeface="Times New Roman"/>
                <a:cs typeface="Times New Roman"/>
                <a:sym typeface="Times New Roman"/>
              </a:rPr>
              <a:t> and rs7521902 in the WNT4 gene on chromosome 1).</a:t>
            </a:r>
            <a:endParaRPr b="1" sz="1200">
              <a:solidFill>
                <a:schemeClr val="lt1"/>
              </a:solidFill>
              <a:latin typeface="Sora"/>
              <a:ea typeface="Sora"/>
              <a:cs typeface="Sora"/>
              <a:sym typeface="S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53"/>
          <p:cNvSpPr txBox="1"/>
          <p:nvPr>
            <p:ph type="title"/>
          </p:nvPr>
        </p:nvSpPr>
        <p:spPr>
          <a:xfrm>
            <a:off x="264750" y="228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Q1.</a:t>
            </a:r>
            <a:endParaRPr/>
          </a:p>
        </p:txBody>
      </p:sp>
      <p:pic>
        <p:nvPicPr>
          <p:cNvPr descr="Forms response chart. Question title: What is your age?. Number of responses: 13 responses." id="904" name="Google Shape;904;p53" title="What is your age?"/>
          <p:cNvPicPr preferRelativeResize="0"/>
          <p:nvPr/>
        </p:nvPicPr>
        <p:blipFill>
          <a:blip r:embed="rId3">
            <a:alphaModFix/>
          </a:blip>
          <a:stretch>
            <a:fillRect/>
          </a:stretch>
        </p:blipFill>
        <p:spPr>
          <a:xfrm>
            <a:off x="152400" y="953700"/>
            <a:ext cx="8839204" cy="372040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54"/>
          <p:cNvSpPr txBox="1"/>
          <p:nvPr>
            <p:ph type="title"/>
          </p:nvPr>
        </p:nvSpPr>
        <p:spPr>
          <a:xfrm>
            <a:off x="394800" y="97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Q2.</a:t>
            </a:r>
            <a:endParaRPr/>
          </a:p>
        </p:txBody>
      </p:sp>
      <p:pic>
        <p:nvPicPr>
          <p:cNvPr descr="Forms response chart. Question title: What is your sex?. Number of responses: 13 responses." id="910" name="Google Shape;910;p54" title="What is your sex?"/>
          <p:cNvPicPr preferRelativeResize="0"/>
          <p:nvPr/>
        </p:nvPicPr>
        <p:blipFill>
          <a:blip r:embed="rId3">
            <a:alphaModFix/>
          </a:blip>
          <a:stretch>
            <a:fillRect/>
          </a:stretch>
        </p:blipFill>
        <p:spPr>
          <a:xfrm>
            <a:off x="0" y="835027"/>
            <a:ext cx="9144003" cy="384869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55"/>
          <p:cNvSpPr txBox="1"/>
          <p:nvPr>
            <p:ph type="title"/>
          </p:nvPr>
        </p:nvSpPr>
        <p:spPr>
          <a:xfrm>
            <a:off x="311700" y="170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Q3.</a:t>
            </a:r>
            <a:endParaRPr/>
          </a:p>
        </p:txBody>
      </p:sp>
      <p:pic>
        <p:nvPicPr>
          <p:cNvPr descr="Forms response chart. Question title: What is your ethnicity?. Number of responses: 13 responses." id="916" name="Google Shape;916;p55" title="What is your ethnicity?"/>
          <p:cNvPicPr preferRelativeResize="0"/>
          <p:nvPr/>
        </p:nvPicPr>
        <p:blipFill>
          <a:blip r:embed="rId3">
            <a:alphaModFix/>
          </a:blip>
          <a:stretch>
            <a:fillRect/>
          </a:stretch>
        </p:blipFill>
        <p:spPr>
          <a:xfrm>
            <a:off x="152400" y="895950"/>
            <a:ext cx="8610749" cy="40951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56"/>
          <p:cNvSpPr txBox="1"/>
          <p:nvPr>
            <p:ph type="title"/>
          </p:nvPr>
        </p:nvSpPr>
        <p:spPr>
          <a:xfrm>
            <a:off x="311700" y="228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Q4.</a:t>
            </a:r>
            <a:endParaRPr/>
          </a:p>
        </p:txBody>
      </p:sp>
      <p:pic>
        <p:nvPicPr>
          <p:cNvPr descr="Forms response chart. Question title: How much do you think this should cost?. Number of responses: 13 responses." id="922" name="Google Shape;922;p56" title="How much do you think this should cost?"/>
          <p:cNvPicPr preferRelativeResize="0"/>
          <p:nvPr/>
        </p:nvPicPr>
        <p:blipFill>
          <a:blip r:embed="rId3">
            <a:alphaModFix/>
          </a:blip>
          <a:stretch>
            <a:fillRect/>
          </a:stretch>
        </p:blipFill>
        <p:spPr>
          <a:xfrm>
            <a:off x="152400" y="953700"/>
            <a:ext cx="8839204" cy="372040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Q5.</a:t>
            </a:r>
            <a:endParaRPr/>
          </a:p>
        </p:txBody>
      </p:sp>
      <p:pic>
        <p:nvPicPr>
          <p:cNvPr descr="Forms response chart. Question title: Do you think that our company needs outside experts to better provide for our customers?. Number of responses: 13 responses." id="928" name="Google Shape;928;p57" title="Do you think that our company needs outside experts to better provide for our customers?"/>
          <p:cNvPicPr preferRelativeResize="0"/>
          <p:nvPr/>
        </p:nvPicPr>
        <p:blipFill>
          <a:blip r:embed="rId3">
            <a:alphaModFix/>
          </a:blip>
          <a:stretch>
            <a:fillRect/>
          </a:stretch>
        </p:blipFill>
        <p:spPr>
          <a:xfrm>
            <a:off x="152400" y="1170125"/>
            <a:ext cx="8839204" cy="372040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Q6.</a:t>
            </a:r>
            <a:endParaRPr/>
          </a:p>
        </p:txBody>
      </p:sp>
      <p:pic>
        <p:nvPicPr>
          <p:cNvPr descr="Forms response chart. Question title: Do you think that our company needs more knowledge to better provide for our customers?. Number of responses: 13 responses." id="934" name="Google Shape;934;p58" title="Do you think that our company needs more knowledge to better provide for our customers?"/>
          <p:cNvPicPr preferRelativeResize="0"/>
          <p:nvPr/>
        </p:nvPicPr>
        <p:blipFill>
          <a:blip r:embed="rId3">
            <a:alphaModFix/>
          </a:blip>
          <a:stretch>
            <a:fillRect/>
          </a:stretch>
        </p:blipFill>
        <p:spPr>
          <a:xfrm>
            <a:off x="152400" y="1170125"/>
            <a:ext cx="8839204" cy="372040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Q7.</a:t>
            </a:r>
            <a:endParaRPr/>
          </a:p>
        </p:txBody>
      </p:sp>
      <p:pic>
        <p:nvPicPr>
          <p:cNvPr descr="Forms response chart. Question title: Are there any companies that our product reminds you of?. Number of responses: 13 responses." id="940" name="Google Shape;940;p59" title="Are there any companies that our product reminds you of?"/>
          <p:cNvPicPr preferRelativeResize="0"/>
          <p:nvPr/>
        </p:nvPicPr>
        <p:blipFill>
          <a:blip r:embed="rId3">
            <a:alphaModFix/>
          </a:blip>
          <a:stretch>
            <a:fillRect/>
          </a:stretch>
        </p:blipFill>
        <p:spPr>
          <a:xfrm>
            <a:off x="798050" y="1017725"/>
            <a:ext cx="8034248" cy="3820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60"/>
          <p:cNvSpPr txBox="1"/>
          <p:nvPr>
            <p:ph type="title"/>
          </p:nvPr>
        </p:nvSpPr>
        <p:spPr>
          <a:xfrm>
            <a:off x="3530400" y="2285400"/>
            <a:ext cx="2083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