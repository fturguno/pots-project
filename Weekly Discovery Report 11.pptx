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Sora SemiBold"/>
      <p:regular r:id="rId16"/>
      <p:bold r:id="rId17"/>
    </p:embeddedFont>
    <p:embeddedFont>
      <p:font typeface="IBM Plex Sans Medium"/>
      <p:regular r:id="rId18"/>
      <p:bold r:id="rId19"/>
      <p:italic r:id="rId20"/>
      <p:boldItalic r:id="rId21"/>
    </p:embeddedFont>
    <p:embeddedFont>
      <p:font typeface="Sora Light"/>
      <p:regular r:id="rId22"/>
      <p:bold r:id="rId23"/>
    </p:embeddedFont>
    <p:embeddedFont>
      <p:font typeface="Sora ExtraLight"/>
      <p:regular r:id="rId24"/>
      <p:bold r:id="rId25"/>
    </p:embeddedFont>
    <p:embeddedFont>
      <p:font typeface="Sora"/>
      <p:regular r:id="rId26"/>
      <p:bold r:id="rId27"/>
    </p:embeddedFont>
    <p:embeddedFont>
      <p:font typeface="Sora Medium"/>
      <p:regular r:id="rId28"/>
      <p:bold r:id="rId29"/>
    </p:embeddedFont>
    <p:embeddedFont>
      <p:font typeface="IBM Plex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SemiBold-bold.fntdata"/><Relationship Id="rId30" Type="http://schemas.openxmlformats.org/officeDocument/2006/relationships/font" Target="fonts/IBMPlexSansSemiBold-regular.fntdata"/><Relationship Id="rId33" Type="http://schemas.openxmlformats.org/officeDocument/2006/relationships/font" Target="fonts/IBMPlexSansSemiBold-boldItalic.fntdata"/><Relationship Id="rId32" Type="http://schemas.openxmlformats.org/officeDocument/2006/relationships/font" Target="fonts/IBMPlexSansSemiBold-italic.fntdata"/><Relationship Id="rId20" Type="http://schemas.openxmlformats.org/officeDocument/2006/relationships/font" Target="fonts/IBMPlexSansMedium-italic.fntdata"/><Relationship Id="rId22" Type="http://schemas.openxmlformats.org/officeDocument/2006/relationships/font" Target="fonts/SoraLight-regular.fntdata"/><Relationship Id="rId21" Type="http://schemas.openxmlformats.org/officeDocument/2006/relationships/font" Target="fonts/IBMPlexSansMedium-boldItalic.fntdata"/><Relationship Id="rId24" Type="http://schemas.openxmlformats.org/officeDocument/2006/relationships/font" Target="fonts/SoraExtraLight-regular.fntdata"/><Relationship Id="rId23" Type="http://schemas.openxmlformats.org/officeDocument/2006/relationships/font" Target="fonts/SoraLight-bold.fntdata"/><Relationship Id="rId26" Type="http://schemas.openxmlformats.org/officeDocument/2006/relationships/font" Target="fonts/Sora-regular.fntdata"/><Relationship Id="rId25" Type="http://schemas.openxmlformats.org/officeDocument/2006/relationships/font" Target="fonts/SoraExtraLight-bold.fntdata"/><Relationship Id="rId28" Type="http://schemas.openxmlformats.org/officeDocument/2006/relationships/font" Target="fonts/SoraMedium-regular.fntdata"/><Relationship Id="rId27" Type="http://schemas.openxmlformats.org/officeDocument/2006/relationships/font" Target="fonts/Sora-bold.fntdata"/><Relationship Id="rId29" Type="http://schemas.openxmlformats.org/officeDocument/2006/relationships/font" Target="fonts/Sora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19" Type="http://schemas.openxmlformats.org/officeDocument/2006/relationships/font" Target="fonts/IBMPlexSansMedium-bold.fntdata"/><Relationship Id="rId18" Type="http://schemas.openxmlformats.org/officeDocument/2006/relationships/font" Target="fonts/IBMPlex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214b86fb4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c214b86fb4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86c36d32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86c36d32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c219ec272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c219ec27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c219ec272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c219ec272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c219ec272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c219ec272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c219ec272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c219ec272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Aiyana, Gloria, Farruh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Weekly Discovery Report 11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CycleSIGHT: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Because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pain isn’t one-size-fits-all.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Focus</a:t>
            </a:r>
            <a:endParaRPr/>
          </a:p>
        </p:txBody>
      </p:sp>
      <p:sp>
        <p:nvSpPr>
          <p:cNvPr id="896" name="Google Shape;896;p52"/>
          <p:cNvSpPr txBox="1"/>
          <p:nvPr>
            <p:ph idx="1" type="body"/>
          </p:nvPr>
        </p:nvSpPr>
        <p:spPr>
          <a:xfrm>
            <a:off x="311700" y="1152475"/>
            <a:ext cx="818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Sufficiently sampled our direct target market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Dissatisfaction with current menstrual pain remedies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Interest in understanding the biological side of NSAID use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Concerns: Data Privacy &amp; Cost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Shift focus to surveying clinicians </a:t>
            </a:r>
            <a:endParaRPr sz="24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Phone </a:t>
            </a:r>
            <a:r>
              <a:rPr lang="en" sz="2200"/>
              <a:t>interviews with 3 clinicians (one from Planned Parenthood, 2 from Atrium Health Women’s Care), filled out survey for them based on their answers on the phone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6"/>
          <p:cNvSpPr txBox="1"/>
          <p:nvPr>
            <p:ph type="title"/>
          </p:nvPr>
        </p:nvSpPr>
        <p:spPr>
          <a:xfrm>
            <a:off x="3530400" y="2285400"/>
            <a:ext cx="208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