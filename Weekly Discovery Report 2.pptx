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9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214b86fb4_0_1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c214b86fb4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c214b86fb4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c214b86fb4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c214b86fb4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c214b86fb4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c219ec272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c219ec272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2" type="body"/>
          </p:nvPr>
        </p:nvSpPr>
        <p:spPr>
          <a:xfrm>
            <a:off x="3691825" y="0"/>
            <a:ext cx="4078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Our company</a:t>
            </a:r>
            <a:endParaRPr b="1"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 genomics laboratory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provides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stratification panels for menstrual pain, medication safety(NSAID overuse complications), and underlying gynecologic conditions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enable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earlier intervention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safer, more effective treatment selection.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896" name="Google Shape;896;p52"/>
          <p:cNvSpPr txBox="1"/>
          <p:nvPr>
            <p:ph idx="1" type="body"/>
          </p:nvPr>
        </p:nvSpPr>
        <p:spPr>
          <a:xfrm>
            <a:off x="3691825" y="1450200"/>
            <a:ext cx="4981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Problem?</a:t>
            </a:r>
            <a:endParaRPr b="1"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women rely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heavily on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NSAIDs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 ibuprofen and naproxen for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menstrual pain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often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unaware that genetic differences can increase their risk of liver or kidney damage from repeated use.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the same time,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chronic menstrual pain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conditions like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endometriosis remain underdiagnosed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treated through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trial and error.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CycleSIGHT</a:t>
            </a:r>
            <a:endParaRPr/>
          </a:p>
        </p:txBody>
      </p:sp>
      <p:sp>
        <p:nvSpPr>
          <p:cNvPr id="898" name="Google Shape;898;p52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CycleSIGHT?</a:t>
            </a:r>
            <a:endParaRPr/>
          </a:p>
        </p:txBody>
      </p:sp>
      <p:sp>
        <p:nvSpPr>
          <p:cNvPr id="899" name="Google Shape;899;p52"/>
          <p:cNvSpPr txBox="1"/>
          <p:nvPr/>
        </p:nvSpPr>
        <p:spPr>
          <a:xfrm>
            <a:off x="2759150" y="3118150"/>
            <a:ext cx="5737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we want to solve this problem?</a:t>
            </a:r>
            <a:endParaRPr b="1" sz="15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0"/>
              <a:t>CycleSIGHT tackles both problems by i</a:t>
            </a:r>
            <a:r>
              <a:rPr b="1" lang="en" sz="1200"/>
              <a:t>dentifying NSAID metabolism variants</a:t>
            </a:r>
            <a:r>
              <a:rPr lang="en" sz="1200"/>
              <a:t> and </a:t>
            </a:r>
            <a:r>
              <a:rPr b="1" lang="en" sz="1200"/>
              <a:t>hormone or pain-related genes </a:t>
            </a:r>
            <a:r>
              <a:rPr lang="en" sz="1200"/>
              <a:t>to</a:t>
            </a:r>
            <a:r>
              <a:rPr b="1" lang="en" sz="1200"/>
              <a:t> help clinicians guide safer, more personalized care.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3"/>
          <p:cNvSpPr txBox="1"/>
          <p:nvPr>
            <p:ph type="title"/>
          </p:nvPr>
        </p:nvSpPr>
        <p:spPr>
          <a:xfrm>
            <a:off x="43800" y="1339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CycleSIGHT</a:t>
            </a:r>
            <a:endParaRPr/>
          </a:p>
        </p:txBody>
      </p:sp>
      <p:sp>
        <p:nvSpPr>
          <p:cNvPr id="905" name="Google Shape;905;p53"/>
          <p:cNvSpPr txBox="1"/>
          <p:nvPr>
            <p:ph idx="1" type="subTitle"/>
          </p:nvPr>
        </p:nvSpPr>
        <p:spPr>
          <a:xfrm>
            <a:off x="43800" y="2976125"/>
            <a:ext cx="17850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Patient presents clinician with symptoms</a:t>
            </a:r>
            <a:endParaRPr sz="1000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Poor response/ side effects to NSAIDS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Severe dysmenorrhea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Suspected endometriosis</a:t>
            </a:r>
            <a:endParaRPr sz="1000"/>
          </a:p>
        </p:txBody>
      </p:sp>
      <p:sp>
        <p:nvSpPr>
          <p:cNvPr id="906" name="Google Shape;906;p53"/>
          <p:cNvSpPr txBox="1"/>
          <p:nvPr>
            <p:ph idx="5" type="subTitle"/>
          </p:nvPr>
        </p:nvSpPr>
        <p:spPr>
          <a:xfrm>
            <a:off x="4572000" y="1976850"/>
            <a:ext cx="19545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4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CycleSIGHT issues clinical report that includes:</a:t>
            </a:r>
            <a:endParaRPr sz="1000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Risk stratification for pain treatments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Medication response insights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Clinical RECOMMENDATIONS*NOT DIAGNOSIS*</a:t>
            </a:r>
            <a:endParaRPr sz="1000"/>
          </a:p>
        </p:txBody>
      </p:sp>
      <p:sp>
        <p:nvSpPr>
          <p:cNvPr id="907" name="Google Shape;907;p53"/>
          <p:cNvSpPr txBox="1"/>
          <p:nvPr>
            <p:ph idx="6" type="subTitle"/>
          </p:nvPr>
        </p:nvSpPr>
        <p:spPr>
          <a:xfrm>
            <a:off x="6368750" y="1593750"/>
            <a:ext cx="19545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5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Clinician uses the diagnostic </a:t>
            </a:r>
            <a:r>
              <a:rPr lang="en" sz="1000"/>
              <a:t>report</a:t>
            </a:r>
            <a:r>
              <a:rPr lang="en" sz="1000"/>
              <a:t> to </a:t>
            </a:r>
            <a:r>
              <a:rPr lang="en" sz="1000"/>
              <a:t>furthermore</a:t>
            </a:r>
            <a:r>
              <a:rPr lang="en" sz="1000"/>
              <a:t>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Guide </a:t>
            </a:r>
            <a:r>
              <a:rPr lang="en" sz="1000"/>
              <a:t>referrals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Choose safer treatment options/methods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Justify</a:t>
            </a:r>
            <a:r>
              <a:rPr lang="en" sz="1000"/>
              <a:t> </a:t>
            </a:r>
            <a:r>
              <a:rPr lang="en" sz="1000"/>
              <a:t>further</a:t>
            </a:r>
            <a:r>
              <a:rPr lang="en" sz="1000"/>
              <a:t> diagnostic tests</a:t>
            </a:r>
            <a:endParaRPr sz="1000"/>
          </a:p>
        </p:txBody>
      </p:sp>
      <p:sp>
        <p:nvSpPr>
          <p:cNvPr id="908" name="Google Shape;908;p53"/>
          <p:cNvSpPr txBox="1"/>
          <p:nvPr>
            <p:ph idx="7" type="subTitle"/>
          </p:nvPr>
        </p:nvSpPr>
        <p:spPr>
          <a:xfrm>
            <a:off x="7614600" y="3232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Goal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Change and improve the standard of care for menstrual pain and endometriosis</a:t>
            </a:r>
            <a:endParaRPr sz="1000"/>
          </a:p>
        </p:txBody>
      </p:sp>
      <p:sp>
        <p:nvSpPr>
          <p:cNvPr id="909" name="Google Shape;909;p53"/>
          <p:cNvSpPr txBox="1"/>
          <p:nvPr>
            <p:ph idx="3" type="subTitle"/>
          </p:nvPr>
        </p:nvSpPr>
        <p:spPr>
          <a:xfrm>
            <a:off x="1720650" y="2589300"/>
            <a:ext cx="15369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2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Clinician orders the CycleSIGHT laboratory test</a:t>
            </a:r>
            <a:endParaRPr sz="1000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Blood or saliva sample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Sample then sent to CycleSIGHT’S CLIA-certified lab</a:t>
            </a:r>
            <a:endParaRPr sz="1000"/>
          </a:p>
        </p:txBody>
      </p:sp>
      <p:sp>
        <p:nvSpPr>
          <p:cNvPr id="910" name="Google Shape;910;p53"/>
          <p:cNvSpPr txBox="1"/>
          <p:nvPr>
            <p:ph idx="4" type="subTitle"/>
          </p:nvPr>
        </p:nvSpPr>
        <p:spPr>
          <a:xfrm>
            <a:off x="3155400" y="2306650"/>
            <a:ext cx="15369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3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/>
              <a:t>CycleSIGHT analyzes targeted SNPs and genes related to:</a:t>
            </a:r>
            <a:endParaRPr sz="1000"/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Estrogen signaling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Inflammation and pain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NSAID metabolism </a:t>
            </a:r>
            <a:endParaRPr sz="1000"/>
          </a:p>
        </p:txBody>
      </p:sp>
      <p:sp>
        <p:nvSpPr>
          <p:cNvPr id="911" name="Google Shape;911;p53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CycleSIGHT works</a:t>
            </a:r>
            <a:endParaRPr/>
          </a:p>
        </p:txBody>
      </p:sp>
      <p:sp>
        <p:nvSpPr>
          <p:cNvPr id="912" name="Google Shape;912;p53"/>
          <p:cNvSpPr/>
          <p:nvPr/>
        </p:nvSpPr>
        <p:spPr>
          <a:xfrm>
            <a:off x="750" y="2943425"/>
            <a:ext cx="1669500" cy="3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3" name="Google Shape;913;p53"/>
          <p:cNvSpPr/>
          <p:nvPr/>
        </p:nvSpPr>
        <p:spPr>
          <a:xfrm>
            <a:off x="1713600" y="2556600"/>
            <a:ext cx="13950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4" name="Google Shape;914;p53"/>
          <p:cNvSpPr/>
          <p:nvPr/>
        </p:nvSpPr>
        <p:spPr>
          <a:xfrm>
            <a:off x="3151800" y="2273950"/>
            <a:ext cx="1395000" cy="3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5" name="Google Shape;915;p53"/>
          <p:cNvSpPr/>
          <p:nvPr/>
        </p:nvSpPr>
        <p:spPr>
          <a:xfrm>
            <a:off x="4593600" y="1960500"/>
            <a:ext cx="1395000" cy="3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6" name="Google Shape;916;p53"/>
          <p:cNvSpPr/>
          <p:nvPr/>
        </p:nvSpPr>
        <p:spPr>
          <a:xfrm>
            <a:off x="6194550" y="1604975"/>
            <a:ext cx="1395000" cy="3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7" name="Google Shape;917;p53"/>
          <p:cNvSpPr/>
          <p:nvPr/>
        </p:nvSpPr>
        <p:spPr>
          <a:xfrm>
            <a:off x="7473750" y="212250"/>
            <a:ext cx="1669500" cy="3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4"/>
          <p:cNvSpPr txBox="1"/>
          <p:nvPr>
            <p:ph idx="3" type="title"/>
          </p:nvPr>
        </p:nvSpPr>
        <p:spPr>
          <a:xfrm>
            <a:off x="115025" y="471075"/>
            <a:ext cx="3941700" cy="16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we asked potential customers:</a:t>
            </a:r>
            <a:endParaRPr/>
          </a:p>
        </p:txBody>
      </p:sp>
      <p:sp>
        <p:nvSpPr>
          <p:cNvPr id="923" name="Google Shape;923;p5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CycleSIGHT</a:t>
            </a:r>
            <a:endParaRPr/>
          </a:p>
        </p:txBody>
      </p:sp>
      <p:sp>
        <p:nvSpPr>
          <p:cNvPr id="924" name="Google Shape;924;p54"/>
          <p:cNvSpPr txBox="1"/>
          <p:nvPr>
            <p:ph idx="15" type="subTitle"/>
          </p:nvPr>
        </p:nvSpPr>
        <p:spPr>
          <a:xfrm>
            <a:off x="4333625" y="652354"/>
            <a:ext cx="3972600" cy="3838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 you think CycleSIGHT fills a unique gap in the healthcare market?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Would you be willing to pay between $65-$100 out of pocket (~$16-$51 with insurance) for this diagnostic test?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Would you be willing to participate in a subscription plan where you are tested annually for a re-interpretation of your genetic results?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$30/year with insurance ($45/year out of pocket) an acceptable price for an annual subscription to our services?</a:t>
            </a:r>
            <a:endParaRPr sz="1400"/>
          </a:p>
        </p:txBody>
      </p:sp>
      <p:pic>
        <p:nvPicPr>
          <p:cNvPr descr="a yellow smiley face with a question mark on it 's forehead . (Provided by Tenor)" id="925" name="Google Shape;9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150" y="2219637"/>
            <a:ext cx="2109450" cy="22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Do you think CycleSIGHT fills a unique gap in the healthcare market?. Number of responses: 8 responses." id="930" name="Google Shape;930;p55" title="Do you think CycleSIGHT fills a unique gap in the healthcare market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1550"/>
            <a:ext cx="8839204" cy="3720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Would you be willing to pay between $65-$100 out of pocket (~$16-$51 with insurance) for this diagnostic test?. Number of responses: 8 responses." id="935" name="Google Shape;935;p56" title="Would you be willing to pay between $65-$100 out of pocket (~$16-$51 with insurance) for this diagnostic test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6963"/>
            <a:ext cx="8839204" cy="4009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Would you be willing to participate in a subscription plan where you are tested annually for a re-interpretation of your genetic results?. Number of responses: 8 responses." id="940" name="Google Shape;940;p57" title="Would you be willing to participate in a subscription plan where you are tested annually for a re-interpretation of your genetic result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6963"/>
            <a:ext cx="8839204" cy="4009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Is $30/year with insurance ($45/year out of pocket) an acceptable price for an annual subscription for our services?. Number of responses: 8 responses." id="945" name="Google Shape;945;p58" title="Is $30/year with insurance ($45/year out of pocket) an acceptable price for an annual subscription for our service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6963"/>
            <a:ext cx="8839204" cy="4009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9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